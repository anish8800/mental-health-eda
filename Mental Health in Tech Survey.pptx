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6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68" r:id="rId19"/>
    <p:sldId id="269" r:id="rId20"/>
    <p:sldId id="270" r:id="rId21"/>
    <p:sldId id="272" r:id="rId22"/>
    <p:sldId id="273" r:id="rId23"/>
    <p:sldId id="274" r:id="rId24"/>
    <p:sldId id="275" r:id="rId25"/>
    <p:sldId id="276" r:id="rId26"/>
    <p:sldId id="277" r:id="rId27"/>
    <p:sldId id="286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35D3B6-029A-4065-87FE-DE57AD19B9C6}" v="57" dt="2025-12-30T13:09:40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ish8800/Mental-Health-EDA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295200"/>
            <a:ext cx="8520600" cy="2014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33333"/>
              </a:lnSpc>
              <a:buSzPts val="1100"/>
            </a:pPr>
            <a:r>
              <a:rPr lang="en" sz="3600" b="1" dirty="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 </a:t>
            </a:r>
            <a:r>
              <a:rPr lang="en-IN" sz="3600" b="1" dirty="0">
                <a:highlight>
                  <a:srgbClr val="FFFFFF"/>
                </a:highlight>
              </a:rPr>
              <a:t>Exploratory Data Analysis</a:t>
            </a:r>
            <a:endParaRPr sz="3600" b="1" dirty="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lvl="0"/>
            <a:r>
              <a:rPr lang="en-IN" sz="3600" dirty="0"/>
              <a:t>	</a:t>
            </a:r>
            <a:r>
              <a:rPr lang="en-IN" sz="3600" dirty="0">
                <a:solidFill>
                  <a:schemeClr val="tx1"/>
                </a:solidFill>
              </a:rPr>
              <a:t>Author: Anish Shrikrishna Wadatkar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01600"/>
            <a:ext cx="8520600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en-US" b="1" dirty="0">
                <a:solidFill>
                  <a:schemeClr val="tx1"/>
                </a:solidFill>
                <a:latin typeface="+mn-lt"/>
              </a:rPr>
              <a:t>Project Description: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An exploratory data analysis project based on a global survey examining mental health awareness, workplace support, and employee attitudes in the technology sector.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CF96-8D24-D9A3-725F-26120FF0E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5201"/>
            <a:ext cx="8520600" cy="57600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56374-FDFE-D85D-20A0-F41EABBF5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Mental health has become an increasingly important topic in modern workplaces, especially within the fast-paced technology industry. Factors such as long working hours, high performance pressure, and remote work can significantly impact employee well-being.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This project explores mental health trends, attitudes, and workplace support systems in the tech industry using survey data collected from professionals across different countries.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66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36801"/>
            <a:ext cx="8520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Dataset Overview</a:t>
            </a:r>
            <a:endParaRPr sz="36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828000"/>
            <a:ext cx="8520600" cy="4005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11430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b="1" dirty="0">
                <a:solidFill>
                  <a:schemeClr val="tx1"/>
                </a:solidFill>
                <a:highlight>
                  <a:srgbClr val="FFFFFF"/>
                </a:highlight>
              </a:rPr>
              <a:t>About Dataset</a:t>
            </a:r>
            <a:endParaRPr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b="1" dirty="0">
                <a:solidFill>
                  <a:schemeClr val="tx1"/>
                </a:solidFill>
                <a:highlight>
                  <a:srgbClr val="FFFFFF"/>
                </a:highlight>
              </a:rPr>
              <a:t>Dataset Information</a:t>
            </a:r>
            <a:endParaRPr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>
              <a:lnSpc>
                <a:spcPct val="157142"/>
              </a:lnSpc>
              <a:spcBef>
                <a:spcPts val="900"/>
              </a:spcBef>
              <a:buClr>
                <a:schemeClr val="dk1"/>
              </a:buClr>
              <a:buSzPct val="104761"/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The dataset used in this project comes from the </a:t>
            </a:r>
            <a:r>
              <a:rPr lang="en-US" b="1" dirty="0">
                <a:solidFill>
                  <a:schemeClr val="tx1"/>
                </a:solidFill>
                <a:highlight>
                  <a:srgbClr val="FFFFFF"/>
                </a:highlight>
              </a:rPr>
              <a:t>Mental Health in Tech Survey (2014)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, conducted by </a:t>
            </a:r>
            <a:r>
              <a:rPr lang="en-US" i="1" dirty="0">
                <a:solidFill>
                  <a:schemeClr val="tx1"/>
                </a:solidFill>
                <a:highlight>
                  <a:srgbClr val="FFFFFF"/>
                </a:highlight>
              </a:rPr>
              <a:t>Open Sourcing Mental Illness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.</a:t>
            </a:r>
          </a:p>
          <a:p>
            <a:pPr marL="0" lvl="0" indent="0">
              <a:lnSpc>
                <a:spcPct val="157142"/>
              </a:lnSpc>
              <a:spcBef>
                <a:spcPts val="900"/>
              </a:spcBef>
              <a:buClr>
                <a:schemeClr val="dk1"/>
              </a:buClr>
              <a:buSzPct val="104761"/>
              <a:buNone/>
            </a:pPr>
            <a:r>
              <a:rPr lang="en-IN" b="1" dirty="0">
                <a:solidFill>
                  <a:schemeClr val="tx1"/>
                </a:solidFill>
                <a:highlight>
                  <a:srgbClr val="FFFFFF"/>
                </a:highlight>
              </a:rPr>
              <a:t>Key Characteristics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Survey-based dataset with responses from tech professionals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Covers mental health history, workplace policies, and employee perceptions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Includes both demographic and workplace-related attributes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</a:rPr>
              <a:t>The dataset provides valuable insights into how mental health is perceived and managed within tech organizations.</a:t>
            </a:r>
          </a:p>
          <a:p>
            <a:pPr marL="0" lvl="0" indent="0" algn="l" rtl="0">
              <a:spcBef>
                <a:spcPts val="24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144000"/>
            <a:ext cx="8520600" cy="873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Dataset Features (Part 1)</a:t>
            </a:r>
            <a:endParaRPr sz="3600" dirty="0"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Some of the important features included in the dataset are: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Age</a:t>
            </a:r>
            <a:r>
              <a:rPr lang="en-US" dirty="0">
                <a:solidFill>
                  <a:schemeClr val="tx1"/>
                </a:solidFill>
              </a:rPr>
              <a:t> – Age of the respondent</a:t>
            </a:r>
          </a:p>
          <a:p>
            <a:r>
              <a:rPr lang="en-US" b="1" dirty="0">
                <a:solidFill>
                  <a:schemeClr val="tx1"/>
                </a:solidFill>
              </a:rPr>
              <a:t>Gender</a:t>
            </a:r>
            <a:r>
              <a:rPr lang="en-US" dirty="0">
                <a:solidFill>
                  <a:schemeClr val="tx1"/>
                </a:solidFill>
              </a:rPr>
              <a:t> – Self-reported gender</a:t>
            </a:r>
          </a:p>
          <a:p>
            <a:r>
              <a:rPr lang="en-US" b="1" dirty="0">
                <a:solidFill>
                  <a:schemeClr val="tx1"/>
                </a:solidFill>
              </a:rPr>
              <a:t>Country / State</a:t>
            </a:r>
            <a:r>
              <a:rPr lang="en-US" dirty="0">
                <a:solidFill>
                  <a:schemeClr val="tx1"/>
                </a:solidFill>
              </a:rPr>
              <a:t> – Geographic location</a:t>
            </a:r>
          </a:p>
          <a:p>
            <a:r>
              <a:rPr lang="en-US" b="1" dirty="0">
                <a:solidFill>
                  <a:schemeClr val="tx1"/>
                </a:solidFill>
              </a:rPr>
              <a:t>Self-employed</a:t>
            </a:r>
            <a:r>
              <a:rPr lang="en-US" dirty="0">
                <a:solidFill>
                  <a:schemeClr val="tx1"/>
                </a:solidFill>
              </a:rPr>
              <a:t> – Employment type</a:t>
            </a:r>
          </a:p>
          <a:p>
            <a:r>
              <a:rPr lang="en-US" b="1" dirty="0">
                <a:solidFill>
                  <a:schemeClr val="tx1"/>
                </a:solidFill>
              </a:rPr>
              <a:t>Family history</a:t>
            </a:r>
            <a:r>
              <a:rPr lang="en-US" dirty="0">
                <a:solidFill>
                  <a:schemeClr val="tx1"/>
                </a:solidFill>
              </a:rPr>
              <a:t> – Family history of mental illness</a:t>
            </a:r>
          </a:p>
          <a:p>
            <a:r>
              <a:rPr lang="en-US" b="1" dirty="0">
                <a:solidFill>
                  <a:schemeClr val="tx1"/>
                </a:solidFill>
              </a:rPr>
              <a:t>Treatment</a:t>
            </a:r>
            <a:r>
              <a:rPr lang="en-US" dirty="0">
                <a:solidFill>
                  <a:schemeClr val="tx1"/>
                </a:solidFill>
              </a:rPr>
              <a:t> – Whether the respondent has sought mental health treatment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These features help in understanding demographic patterns related to mental health.</a:t>
            </a:r>
          </a:p>
          <a:p>
            <a:pPr marL="0" lvl="0" indent="0" algn="l" rtl="0">
              <a:spcBef>
                <a:spcPts val="24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216000"/>
            <a:ext cx="8520600" cy="80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Dataset Features (Part 2)</a:t>
            </a:r>
            <a:endParaRPr sz="3600" dirty="0"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16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Additional workplace-focused features include: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Work interference</a:t>
            </a:r>
            <a:r>
              <a:rPr lang="en-US" dirty="0">
                <a:solidFill>
                  <a:schemeClr val="tx1"/>
                </a:solidFill>
              </a:rPr>
              <a:t> – Impact of mental health on work</a:t>
            </a:r>
          </a:p>
          <a:p>
            <a:r>
              <a:rPr lang="en-US" b="1" dirty="0">
                <a:solidFill>
                  <a:schemeClr val="tx1"/>
                </a:solidFill>
              </a:rPr>
              <a:t>Company size</a:t>
            </a:r>
            <a:r>
              <a:rPr lang="en-US" dirty="0">
                <a:solidFill>
                  <a:schemeClr val="tx1"/>
                </a:solidFill>
              </a:rPr>
              <a:t> – Number of employees</a:t>
            </a:r>
          </a:p>
          <a:p>
            <a:r>
              <a:rPr lang="en-US" b="1" dirty="0">
                <a:solidFill>
                  <a:schemeClr val="tx1"/>
                </a:solidFill>
              </a:rPr>
              <a:t>Remote work</a:t>
            </a:r>
            <a:r>
              <a:rPr lang="en-US" dirty="0">
                <a:solidFill>
                  <a:schemeClr val="tx1"/>
                </a:solidFill>
              </a:rPr>
              <a:t> – Remote working status</a:t>
            </a:r>
          </a:p>
          <a:p>
            <a:r>
              <a:rPr lang="en-US" b="1" dirty="0">
                <a:solidFill>
                  <a:schemeClr val="tx1"/>
                </a:solidFill>
              </a:rPr>
              <a:t>Benefits</a:t>
            </a:r>
            <a:r>
              <a:rPr lang="en-US" dirty="0">
                <a:solidFill>
                  <a:schemeClr val="tx1"/>
                </a:solidFill>
              </a:rPr>
              <a:t> – Availability of mental health benefits</a:t>
            </a:r>
          </a:p>
          <a:p>
            <a:r>
              <a:rPr lang="en-US" b="1" dirty="0">
                <a:solidFill>
                  <a:schemeClr val="tx1"/>
                </a:solidFill>
              </a:rPr>
              <a:t>Care options</a:t>
            </a:r>
            <a:r>
              <a:rPr lang="en-US" dirty="0">
                <a:solidFill>
                  <a:schemeClr val="tx1"/>
                </a:solidFill>
              </a:rPr>
              <a:t> – Awareness of mental health care options</a:t>
            </a:r>
          </a:p>
          <a:p>
            <a:r>
              <a:rPr lang="en-US" b="1" dirty="0">
                <a:solidFill>
                  <a:schemeClr val="tx1"/>
                </a:solidFill>
              </a:rPr>
              <a:t>Wellness programs</a:t>
            </a:r>
            <a:r>
              <a:rPr lang="en-US" dirty="0">
                <a:solidFill>
                  <a:schemeClr val="tx1"/>
                </a:solidFill>
              </a:rPr>
              <a:t> – Employer-led wellness initiatives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These variables provide insight into organizational support structures.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216000"/>
            <a:ext cx="8520600" cy="80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Dataset Features (Part 3)</a:t>
            </a:r>
            <a:endParaRPr sz="3600" dirty="0"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5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dataset also captures employee attitudes and workplace culture:</a:t>
            </a:r>
          </a:p>
          <a:p>
            <a:endParaRPr lang="en-US" sz="1900" b="1" dirty="0">
              <a:solidFill>
                <a:schemeClr val="tx1"/>
              </a:solidFill>
            </a:endParaRPr>
          </a:p>
          <a:p>
            <a:r>
              <a:rPr lang="en-US" sz="1900" b="1" dirty="0">
                <a:solidFill>
                  <a:schemeClr val="tx1"/>
                </a:solidFill>
              </a:rPr>
              <a:t>Seek help</a:t>
            </a:r>
            <a:r>
              <a:rPr lang="en-US" sz="1900" dirty="0">
                <a:solidFill>
                  <a:schemeClr val="tx1"/>
                </a:solidFill>
              </a:rPr>
              <a:t> – Availability of mental health resources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Anonymity</a:t>
            </a:r>
            <a:r>
              <a:rPr lang="en-US" sz="1900" dirty="0">
                <a:solidFill>
                  <a:schemeClr val="tx1"/>
                </a:solidFill>
              </a:rPr>
              <a:t> – Protection of employee identity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Medical leave</a:t>
            </a:r>
            <a:r>
              <a:rPr lang="en-US" sz="1900" dirty="0">
                <a:solidFill>
                  <a:schemeClr val="tx1"/>
                </a:solidFill>
              </a:rPr>
              <a:t> – Ease of taking mental health leave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Mental health consequences</a:t>
            </a:r>
            <a:r>
              <a:rPr lang="en-US" sz="1900" dirty="0">
                <a:solidFill>
                  <a:schemeClr val="tx1"/>
                </a:solidFill>
              </a:rPr>
              <a:t> – Fear of negative outcomes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Coworker &amp; supervisor support</a:t>
            </a:r>
            <a:r>
              <a:rPr lang="en-US" sz="1900" dirty="0">
                <a:solidFill>
                  <a:schemeClr val="tx1"/>
                </a:solidFill>
              </a:rPr>
              <a:t> – Willingness to discuss issues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Observed consequences</a:t>
            </a:r>
            <a:r>
              <a:rPr lang="en-US" sz="1900" dirty="0">
                <a:solidFill>
                  <a:schemeClr val="tx1"/>
                </a:solidFill>
              </a:rPr>
              <a:t> – Witnessed negative workplace behavior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1600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Together, these features capture demographics, workplace policies, and employee attitudes toward mental health.</a:t>
            </a:r>
            <a:endParaRPr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244800"/>
            <a:ext cx="8520600" cy="772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Objective of the Analysis</a:t>
            </a:r>
            <a:endParaRPr sz="3600"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253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main objectives of this exploratory data analysis are: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To understand the </a:t>
            </a:r>
            <a:r>
              <a:rPr lang="en-US" sz="2000" b="1" dirty="0">
                <a:solidFill>
                  <a:schemeClr val="tx1"/>
                </a:solidFill>
              </a:rPr>
              <a:t>prevalence of mental health issues</a:t>
            </a:r>
            <a:r>
              <a:rPr lang="en-US" sz="2000" dirty="0">
                <a:solidFill>
                  <a:schemeClr val="tx1"/>
                </a:solidFill>
              </a:rPr>
              <a:t> in the tech industry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analyze </a:t>
            </a:r>
            <a:r>
              <a:rPr lang="en-US" sz="2000" b="1" dirty="0">
                <a:solidFill>
                  <a:schemeClr val="tx1"/>
                </a:solidFill>
              </a:rPr>
              <a:t>employee attitudes</a:t>
            </a:r>
            <a:r>
              <a:rPr lang="en-US" sz="2000" dirty="0">
                <a:solidFill>
                  <a:schemeClr val="tx1"/>
                </a:solidFill>
              </a:rPr>
              <a:t> toward mental health discussions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evaluate </a:t>
            </a:r>
            <a:r>
              <a:rPr lang="en-US" sz="2000" b="1" dirty="0">
                <a:solidFill>
                  <a:schemeClr val="tx1"/>
                </a:solidFill>
              </a:rPr>
              <a:t>employer support systems and policies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To identify factors that influence </a:t>
            </a:r>
            <a:r>
              <a:rPr lang="en-US" sz="2000" b="1" dirty="0">
                <a:solidFill>
                  <a:schemeClr val="tx1"/>
                </a:solidFill>
              </a:rPr>
              <a:t>treatment-seeking behavior</a:t>
            </a:r>
            <a:endParaRPr lang="en-US" sz="2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 Cleaning &amp; Preprocessing</a:t>
            </a:r>
            <a:endParaRPr sz="3600"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21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Before analysis, the dataset was cleaned and prepared to ensure accuracy and consistency.</a:t>
            </a:r>
          </a:p>
          <a:p>
            <a:pPr marL="11430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 performed: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Removed invalid and extreme age values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Standardized gender labels into meaningful categories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Handled missing values logically instead of random imputation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Converted categorical responses into analyzable formats</a:t>
            </a: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This ensured reliable insights during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351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Exploratory Data Analysis (EDA)</a:t>
            </a:r>
            <a:endParaRPr sz="3600" dirty="0"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EDA was conducted to uncover trends, patterns, and relationships within the data.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Key techniques used: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Frequency distributions for categorical variables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Comparative analysis between mental health and workplace factors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Relationship analysis between treatment and employer support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EDA helped in forming meaningful interpretations without assumptions.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AC00-15F6-157D-E129-5EE86068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8250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Age Distribution of Respondents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A481C-33A9-4814-1E5E-9296C3FB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506" y="731375"/>
            <a:ext cx="5728988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4053-665A-DC58-FCA5-EDDD1B13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Gender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90820-AEEB-2B4B-4E0A-4768A674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99" y="572700"/>
            <a:ext cx="3822601" cy="40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0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9556-E744-112F-FE02-C7052F7C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-805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Mental Health Treatment Seeking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FDC26-EAF5-7D26-34F8-F00D6999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1" y="750412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31CA-0868-A5D4-8313-A907E468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6225"/>
            <a:ext cx="8520600" cy="572700"/>
          </a:xfrm>
        </p:spPr>
        <p:txBody>
          <a:bodyPr>
            <a:noAutofit/>
          </a:bodyPr>
          <a:lstStyle/>
          <a:p>
            <a:r>
              <a:rPr lang="en-US" sz="3600" dirty="0"/>
              <a:t>Family History of Mental Illness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1B4DB-D9B9-4B45-A8A1-815ECDD08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685612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5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2B34-D174-CB54-7C69-A39B407E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0" y="-102175"/>
            <a:ext cx="8520600" cy="572700"/>
          </a:xfrm>
        </p:spPr>
        <p:txBody>
          <a:bodyPr>
            <a:noAutofit/>
          </a:bodyPr>
          <a:lstStyle/>
          <a:p>
            <a:r>
              <a:rPr lang="en-US" sz="3600" dirty="0"/>
              <a:t>Work Interference due to Mental Health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E2B0C-DE06-1124-8F07-E3DA3D81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012" y="604800"/>
            <a:ext cx="5438775" cy="45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7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4E1A-3C6E-4777-E408-E49836A3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00" y="-79200"/>
            <a:ext cx="8520600" cy="572700"/>
          </a:xfrm>
        </p:spPr>
        <p:txBody>
          <a:bodyPr>
            <a:noAutofit/>
          </a:bodyPr>
          <a:lstStyle/>
          <a:p>
            <a:r>
              <a:rPr lang="en-US" sz="3600" dirty="0"/>
              <a:t>Employer Support: Benefits &amp; Care Options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5C7AF-335E-6538-8394-0CE757AD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12" y="621901"/>
            <a:ext cx="5438775" cy="452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8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F202-5808-0F18-ADB0-AC523B40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Workplace Openness &amp; Anonymity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315BF-AD8A-FC72-096E-CEAFE1EB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412" y="659100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3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09C-73E9-BC1E-CE21-CB5F73F9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Career Consequences Perception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4D03B-240C-E1CF-DC4E-71126F74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659100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5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7178-039B-8E55-AC73-677BA93A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00225"/>
            <a:ext cx="8520600" cy="572700"/>
          </a:xfrm>
        </p:spPr>
        <p:txBody>
          <a:bodyPr>
            <a:noAutofit/>
          </a:bodyPr>
          <a:lstStyle/>
          <a:p>
            <a:r>
              <a:rPr lang="en-US" sz="3600" dirty="0"/>
              <a:t>Key Findings: Mental Health Prevalence</a:t>
            </a: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9B00C-9224-61A4-62C9-B37D1EBA5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16475"/>
            <a:ext cx="8520600" cy="3416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significant portion of respondents reported experiencing mental health issues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Many individuals have </a:t>
            </a:r>
            <a:r>
              <a:rPr lang="en-US" sz="2400" b="1" dirty="0">
                <a:solidFill>
                  <a:schemeClr val="tx1"/>
                </a:solidFill>
              </a:rPr>
              <a:t>sought treatment</a:t>
            </a:r>
            <a:r>
              <a:rPr lang="en-US" sz="2400" dirty="0">
                <a:solidFill>
                  <a:schemeClr val="tx1"/>
                </a:solidFill>
              </a:rPr>
              <a:t>, indicating rising awareness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Respondents with a </a:t>
            </a:r>
            <a:r>
              <a:rPr lang="en-US" sz="2400" b="1" dirty="0">
                <a:solidFill>
                  <a:schemeClr val="tx1"/>
                </a:solidFill>
              </a:rPr>
              <a:t>family history of mental illness</a:t>
            </a:r>
            <a:r>
              <a:rPr lang="en-US" sz="2400" dirty="0">
                <a:solidFill>
                  <a:schemeClr val="tx1"/>
                </a:solidFill>
              </a:rPr>
              <a:t> were more likely to seek help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This highlights the widespread nature of mental health challenges in tech.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4709-3AF2-5277-479C-C9BAAA71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Key Findings: Workplace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1C334-D4BE-11A7-B9CE-82E0B0BAE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Many respondents reported that mental health </a:t>
            </a:r>
            <a:r>
              <a:rPr lang="en-US" sz="2000" b="1" dirty="0">
                <a:solidFill>
                  <a:schemeClr val="tx1"/>
                </a:solidFill>
              </a:rPr>
              <a:t>interferes with their work performance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Employees often hesitate to discuss mental health due to fear of negative consequences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Mental health concerns are still treated less openly than physical health issues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Workplace culture plays a major role in employee well-being.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629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4023-5CE7-FD36-C79E-52476980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Autofit/>
          </a:bodyPr>
          <a:lstStyle/>
          <a:p>
            <a:r>
              <a:rPr lang="en-IN" sz="3200" dirty="0"/>
              <a:t>Employer Support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5595F-5E65-67B8-8DA3-66068B0D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16475"/>
            <a:ext cx="8520600" cy="3416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large number of organizations </a:t>
            </a:r>
            <a:r>
              <a:rPr lang="en-US" sz="2400" b="1" dirty="0">
                <a:solidFill>
                  <a:schemeClr val="tx1"/>
                </a:solidFill>
              </a:rPr>
              <a:t>do not provide mental health benefits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Even when benefits exist, employees are often </a:t>
            </a:r>
            <a:r>
              <a:rPr lang="en-US" sz="2400" b="1" dirty="0">
                <a:solidFill>
                  <a:schemeClr val="tx1"/>
                </a:solidFill>
              </a:rPr>
              <a:t>unaware of care options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Wellness programs and mental health discussions are not consistently implemented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This shows a gap between policy availability and employee awareness.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060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BECEF-978E-B843-318D-9073FF66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30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Anonymity &amp; Openness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613DE-2DBD-7E5B-C1CB-5DCA0FCFF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Employees are more willing to seek help when </a:t>
            </a:r>
            <a:r>
              <a:rPr lang="en-US" sz="2400" b="1" dirty="0">
                <a:solidFill>
                  <a:schemeClr val="tx1"/>
                </a:solidFill>
              </a:rPr>
              <a:t>anonymity is protected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Fear of judgment or career impact discourages open discussions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Supportive managers and coworkers increase mental health disclosure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Psychological safety is crucial for a healthy workplace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045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37D8-6B55-67DC-62F1-0845BF0D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Mental vs Physical Health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C372B-811A-58A3-3857-9AA3504CF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Many respondents feel that </a:t>
            </a:r>
            <a:r>
              <a:rPr lang="en-US" sz="2400" b="1" dirty="0">
                <a:solidFill>
                  <a:schemeClr val="tx1"/>
                </a:solidFill>
              </a:rPr>
              <a:t>mental health is not treated as seriously as physical health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Physical health issues are more acceptable to discuss at work</a:t>
            </a:r>
          </a:p>
          <a:p>
            <a:r>
              <a:rPr lang="en-US" sz="2400" dirty="0">
                <a:solidFill>
                  <a:schemeClr val="tx1"/>
                </a:solidFill>
              </a:rPr>
              <a:t>Mental health stigma still exists despite growing awareness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Equal treatment of mental and physical health remains a challenge.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09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8FDA-806D-356A-8005-624AC0D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Key Insights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C04D7-0083-4C74-F0AF-DDD23CFCA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Mental health issues are common in the tech industry</a:t>
            </a:r>
          </a:p>
          <a:p>
            <a:r>
              <a:rPr lang="en-US" sz="2400" dirty="0">
                <a:solidFill>
                  <a:schemeClr val="tx1"/>
                </a:solidFill>
              </a:rPr>
              <a:t>Family history and workplace culture influence treatment-seeking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Lack of awareness and stigma reduce effective support</a:t>
            </a:r>
          </a:p>
          <a:p>
            <a:r>
              <a:rPr lang="en-US" sz="2400" dirty="0">
                <a:solidFill>
                  <a:schemeClr val="tx1"/>
                </a:solidFill>
              </a:rPr>
              <a:t>Employer policies alone are insufficient without openness and trust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487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A5C2-12D3-0792-B429-D32B2C22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862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AD30D-B147-9667-6040-DBD71BA03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This exploratory analysis highlights that while awareness of mental health in the tech industry has improved, significant gaps still exist in workplace support, communication, and stigma reduction.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Organizations must move beyond policies and actively foster open conversations, ensure anonymity, and educate employees about available mental health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59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962C-F20D-6FF2-B2A7-33207E6F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307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9FDD-7E73-57D0-088D-14428E7A2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Future improvements to this project could include:</a:t>
            </a:r>
          </a:p>
          <a:p>
            <a:r>
              <a:rPr lang="en-US" sz="2400" dirty="0">
                <a:solidFill>
                  <a:schemeClr val="tx1"/>
                </a:solidFill>
              </a:rPr>
              <a:t>Analysis of more recent survey data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Predictive modeling to identify high-risk groups</a:t>
            </a:r>
          </a:p>
          <a:p>
            <a:r>
              <a:rPr lang="en-US" sz="2400" dirty="0">
                <a:solidFill>
                  <a:schemeClr val="tx1"/>
                </a:solidFill>
              </a:rPr>
              <a:t>Deeper geographic and role-based analysis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Correlation analysis between company size and mental health support. Integrating this dataset with the 2016 and later mental health surveys could provide longitudinal insights into evolving workplace attitudes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751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6801-63EE-158F-0E37-811F9F1E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94625"/>
            <a:ext cx="8520600" cy="572700"/>
          </a:xfrm>
        </p:spPr>
        <p:txBody>
          <a:bodyPr>
            <a:noAutofit/>
          </a:bodyPr>
          <a:lstStyle/>
          <a:p>
            <a:r>
              <a:rPr lang="en-IN" sz="3600" dirty="0"/>
              <a:t>Project Outcome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1AA62-C530-0D06-C233-E7CFFA614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This project demonstrates the use of </a:t>
            </a:r>
            <a:r>
              <a:rPr lang="en-US" sz="2400" b="1" dirty="0">
                <a:solidFill>
                  <a:schemeClr val="tx1"/>
                </a:solidFill>
              </a:rPr>
              <a:t>Exploratory Data Analysis</a:t>
            </a:r>
            <a:r>
              <a:rPr lang="en-US" sz="2400" dirty="0">
                <a:solidFill>
                  <a:schemeClr val="tx1"/>
                </a:solidFill>
              </a:rPr>
              <a:t> to derive meaningful insights from real-world survey data.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It showcases:</a:t>
            </a:r>
          </a:p>
          <a:p>
            <a:r>
              <a:rPr lang="en-US" sz="2400" dirty="0">
                <a:solidFill>
                  <a:schemeClr val="tx1"/>
                </a:solidFill>
              </a:rPr>
              <a:t>Data cleaning skills</a:t>
            </a:r>
          </a:p>
          <a:p>
            <a:r>
              <a:rPr lang="en-US" sz="2400" dirty="0">
                <a:solidFill>
                  <a:schemeClr val="tx1"/>
                </a:solidFill>
              </a:rPr>
              <a:t>Analytical thinking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Interpretation of human-centered data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Real-world problem understanding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224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A98C-B097-0788-7360-340B2011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905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Project Repository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6EF51-FFE3-B473-6FC1-F19C88B3B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31693"/>
            <a:ext cx="85206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GitHub Repository: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  <a:hlinkClick r:id="rId2"/>
              </a:rPr>
              <a:t>https://github.com/Anish8800/Mental-Health-EDA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This repository contains: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Complete </a:t>
            </a:r>
            <a:r>
              <a:rPr lang="en-US" sz="2400" dirty="0" err="1">
                <a:solidFill>
                  <a:schemeClr val="tx1"/>
                </a:solidFill>
              </a:rPr>
              <a:t>Jupyter</a:t>
            </a:r>
            <a:r>
              <a:rPr lang="en-US" sz="2400" dirty="0">
                <a:solidFill>
                  <a:schemeClr val="tx1"/>
                </a:solidFill>
              </a:rPr>
              <a:t> Notebook with EDA and visualizations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Cleaned dataset used for analysis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PowerPoint presentation summarizing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95555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1044</Words>
  <Application>Microsoft Office PowerPoint</Application>
  <PresentationFormat>On-screen Show (16:9)</PresentationFormat>
  <Paragraphs>142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Simple Light</vt:lpstr>
      <vt:lpstr>Mental Health in Tech Survey Exploratory Data Analysis  Author: Anish Shrikrishna Wadatkar</vt:lpstr>
      <vt:lpstr>Introduction</vt:lpstr>
      <vt:lpstr>Dataset Overview</vt:lpstr>
      <vt:lpstr>Dataset Features (Part 1)</vt:lpstr>
      <vt:lpstr>Dataset Features (Part 2)</vt:lpstr>
      <vt:lpstr>Dataset Features (Part 3)</vt:lpstr>
      <vt:lpstr>Objective of the Analysis</vt:lpstr>
      <vt:lpstr>Data Cleaning &amp; Preprocessing</vt:lpstr>
      <vt:lpstr>Exploratory Data Analysis (EDA)</vt:lpstr>
      <vt:lpstr>Age Distribution of Respondents</vt:lpstr>
      <vt:lpstr>Gender Distribution</vt:lpstr>
      <vt:lpstr>Mental Health Treatment Seeking</vt:lpstr>
      <vt:lpstr>Family History of Mental Illness</vt:lpstr>
      <vt:lpstr>Work Interference due to Mental Health</vt:lpstr>
      <vt:lpstr>Employer Support: Benefits &amp; Care Options</vt:lpstr>
      <vt:lpstr>Workplace Openness &amp; Anonymity</vt:lpstr>
      <vt:lpstr>Career Consequences Perception</vt:lpstr>
      <vt:lpstr>Key Findings: Mental Health Prevalence</vt:lpstr>
      <vt:lpstr>Key Findings: Workplace Impact</vt:lpstr>
      <vt:lpstr>Employer Support &amp; Benefits</vt:lpstr>
      <vt:lpstr>Anonymity &amp; Openness</vt:lpstr>
      <vt:lpstr>Mental vs Physical Health</vt:lpstr>
      <vt:lpstr>Key Insights Summary</vt:lpstr>
      <vt:lpstr>Conclusion</vt:lpstr>
      <vt:lpstr>Future Scope</vt:lpstr>
      <vt:lpstr>Project Outcome</vt:lpstr>
      <vt:lpstr>Project Repository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Anish Wadatkar</dc:creator>
  <cp:lastModifiedBy>Anish Wadatkar</cp:lastModifiedBy>
  <cp:revision>2</cp:revision>
  <dcterms:modified xsi:type="dcterms:W3CDTF">2025-12-30T13:21:03Z</dcterms:modified>
</cp:coreProperties>
</file>